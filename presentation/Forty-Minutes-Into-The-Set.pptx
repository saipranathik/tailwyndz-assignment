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Inter Bold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DM Sans Medium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320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-4.sv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-4.svg"/><Relationship Id="rId5" Type="http://schemas.openxmlformats.org/officeDocument/2006/relationships/image" Target="../media/image-1-4.svg"/><Relationship Id="rId10" Type="http://schemas.openxmlformats.org/officeDocument/2006/relationships/image" Target="../media/image-1-4.sv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1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04406" y="-1362456"/>
            <a:ext cx="14600506" cy="34423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ext 0"/>
          <p:cNvSpPr/>
          <p:nvPr/>
        </p:nvSpPr>
        <p:spPr>
          <a:xfrm>
            <a:off x="661475" y="37645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Forty Minutes Into The Set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638675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reliable social-sentiment early-warning system for Kestrel Festival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Tailwyndz Propel Lateral Drive 2026 — Assessment 4 </a:t>
            </a:r>
            <a:endParaRPr lang="en-US" sz="1450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 smtClean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 smtClean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</a:t>
            </a:r>
            <a:r>
              <a:rPr lang="en-US" sz="145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Pranathi</a:t>
            </a:r>
            <a:endParaRPr lang="en-US" sz="1450" dirty="0"/>
          </a:p>
        </p:txBody>
      </p:sp>
      <p:sp>
        <p:nvSpPr>
          <p:cNvPr id="5" name="Rectangle 4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49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More posts did not mean better signals.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1475" y="1859062"/>
            <a:ext cx="5339820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07347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Raw volume = noise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482155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volume alone creates distortion, not signal.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190301" y="1859062"/>
            <a:ext cx="5339919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07347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Irrelevant mentions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2482155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ambiguity distorts the picture before analysis begins.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3490416"/>
            <a:ext cx="533982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3704828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traffic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113510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Bots inflate both volume and apparent sentiment.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90301" y="3490416"/>
            <a:ext cx="5339919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3704828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Short spikes ≠ incidents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113510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Genuine incidents may generate too little social activity to register.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944936" y="5358011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 would rather be told nothing than be told something wrong."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61475" y="5145385"/>
            <a:ext cx="25399" cy="727670"/>
          </a:xfrm>
          <a:prstGeom prst="roundRect">
            <a:avLst>
              <a:gd name="adj" fmla="val 50001"/>
            </a:avLst>
          </a:prstGeom>
          <a:solidFill>
            <a:srgbClr val="AC9EF5"/>
          </a:solidFill>
          <a:ln/>
        </p:spPr>
      </p:sp>
      <p:sp>
        <p:nvSpPr>
          <p:cNvPr id="17" name="Rectangle 16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6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625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challenge was not just sentiment. It was data quality.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402755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1.2M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61475" y="2109688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Total posts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2439491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1,206,715 raw records ingested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79884" y="1402755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75K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6179884" y="2109688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Unique authors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61475" y="3023394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7.28%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661475" y="3730327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1475" y="4060130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Bot-flagged share of total volume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79884" y="3023394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4+</a:t>
            </a:r>
            <a:endParaRPr lang="en-US" sz="4100" dirty="0"/>
          </a:p>
        </p:txBody>
      </p:sp>
      <p:sp>
        <p:nvSpPr>
          <p:cNvPr id="12" name="Text 10"/>
          <p:cNvSpPr/>
          <p:nvPr/>
        </p:nvSpPr>
        <p:spPr>
          <a:xfrm>
            <a:off x="6179884" y="3730327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Timestamp formats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179884" y="4060130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Requiring normalisation before any analysis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1475" y="4644033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36K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661475" y="5350966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Late arrivals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5680770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36,201 out-of-order records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9884" y="4644033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46K</a:t>
            </a:r>
            <a:endParaRPr lang="en-US" sz="4100" dirty="0"/>
          </a:p>
        </p:txBody>
      </p:sp>
      <p:sp>
        <p:nvSpPr>
          <p:cNvPr id="18" name="Text 16"/>
          <p:cNvSpPr/>
          <p:nvPr/>
        </p:nvSpPr>
        <p:spPr>
          <a:xfrm>
            <a:off x="6179884" y="5350966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Unmatched IDs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179884" y="5680770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46,863 author IDs with no profile match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6682" y="6067227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measuring sentiment, we had to decide what data was trustworthy.</a:t>
            </a:r>
            <a:endParaRPr lang="en-US" sz="1250" dirty="0"/>
          </a:p>
        </p:txBody>
      </p:sp>
      <p:sp>
        <p:nvSpPr>
          <p:cNvPr id="21" name="Rectangle 20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34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3" y="773723"/>
            <a:ext cx="5178670" cy="40261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995263"/>
            <a:ext cx="577022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Kestrel is not always Kestrel.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766251" y="2365573"/>
            <a:ext cx="5770220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brand name is intentionally ambiguous — it can refer to a bird, a car, a surname, or dozens of other things.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Kestrel mention cannot be treated as event sentiment.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962624"/>
            <a:ext cx="2575357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6" name="Text 3"/>
          <p:cNvSpPr/>
          <p:nvPr/>
        </p:nvSpPr>
        <p:spPr>
          <a:xfrm>
            <a:off x="850482" y="5151636"/>
            <a:ext cx="21973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FF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325,831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5560318"/>
            <a:ext cx="21973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Kestrel mentions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425839" y="4962624"/>
            <a:ext cx="2575456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3614846" y="5151636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119,675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3614846" y="5560318"/>
            <a:ext cx="21974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relevant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90301" y="4962624"/>
            <a:ext cx="2575456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2" name="Text 9"/>
          <p:cNvSpPr/>
          <p:nvPr/>
        </p:nvSpPr>
        <p:spPr>
          <a:xfrm>
            <a:off x="6379308" y="5151636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120,365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379308" y="5560318"/>
            <a:ext cx="21974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Ambiguous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954764" y="4962624"/>
            <a:ext cx="2575456" cy="1089124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5" name="Text 12"/>
          <p:cNvSpPr/>
          <p:nvPr/>
        </p:nvSpPr>
        <p:spPr>
          <a:xfrm>
            <a:off x="9143771" y="5151636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85,791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143771" y="5560318"/>
            <a:ext cx="21974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Irrelevant</a:t>
            </a:r>
            <a:endParaRPr lang="en-US" sz="1450" dirty="0"/>
          </a:p>
        </p:txBody>
      </p:sp>
      <p:sp>
        <p:nvSpPr>
          <p:cNvPr id="17" name="Rectangle 16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01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455146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Bot traffic can manufacture the signal.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2609685" y="1920478"/>
            <a:ext cx="1489236" cy="3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97.0%</a:t>
            </a:r>
            <a:endParaRPr lang="en-US" sz="2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176" y="1163737"/>
            <a:ext cx="1816253" cy="18162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087787"/>
            <a:ext cx="5385856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8092476" y="1920478"/>
            <a:ext cx="1489236" cy="302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94.2%</a:t>
            </a:r>
            <a:endParaRPr lang="en-US" sz="2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066" y="1163737"/>
            <a:ext cx="1816253" cy="1816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4265" y="3087787"/>
            <a:ext cx="5385955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Recall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61475" y="3424734"/>
            <a:ext cx="10868745" cy="3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0.632%</a:t>
            </a:r>
            <a:endParaRPr lang="en-US" sz="3100" dirty="0"/>
          </a:p>
        </p:txBody>
      </p:sp>
      <p:sp>
        <p:nvSpPr>
          <p:cNvPr id="10" name="Text 6"/>
          <p:cNvSpPr/>
          <p:nvPr/>
        </p:nvSpPr>
        <p:spPr>
          <a:xfrm>
            <a:off x="661475" y="3943052"/>
            <a:ext cx="10868745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Error rate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435197" y="4616954"/>
            <a:ext cx="3171971" cy="313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Bot detector performance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35197" y="4918173"/>
            <a:ext cx="3831395" cy="613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109000"/>
              </a:lnSpc>
              <a:buSzPct val="100000"/>
              <a:buChar char="•"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87,868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true automated posts in dataset</a:t>
            </a:r>
            <a:endParaRPr lang="en-US" sz="1100" dirty="0"/>
          </a:p>
          <a:p>
            <a:pPr marL="193040" indent="-193040" algn="l">
              <a:lnSpc>
                <a:spcPct val="109000"/>
              </a:lnSpc>
              <a:buSzPct val="100000"/>
              <a:buChar char="•"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85,344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predicted automated by detector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771259" y="4604345"/>
            <a:ext cx="1948508" cy="363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Final detection signals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1259" y="4857467"/>
            <a:ext cx="3522257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Promotional / spam language</a:t>
            </a:r>
            <a:endParaRPr lang="en-US" sz="1100" dirty="0"/>
          </a:p>
          <a:p>
            <a:pPr marL="193040" indent="-193040" algn="l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amplification language</a:t>
            </a:r>
            <a:endParaRPr lang="en-US" sz="1100" dirty="0"/>
          </a:p>
          <a:p>
            <a:pPr marL="193040" indent="-193040" algn="l">
              <a:lnSpc>
                <a:spcPct val="109000"/>
              </a:lnSpc>
              <a:buSzPct val="100000"/>
              <a:buChar char="•"/>
            </a:pPr>
            <a:r>
              <a:rPr lang="en-US" sz="1100" dirty="0" smtClean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/ summary language</a:t>
            </a:r>
            <a:endParaRPr lang="en-US" sz="1100" dirty="0"/>
          </a:p>
        </p:txBody>
      </p:sp>
      <p:sp>
        <p:nvSpPr>
          <p:cNvPr id="17" name="Rectangle 16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52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92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Sentiment is harder than positive vs negative.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199059"/>
            <a:ext cx="10868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 event language requires nuance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1751112"/>
            <a:ext cx="10868745" cy="1346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"not bad at all actually" → </a:t>
            </a:r>
            <a:r>
              <a:rPr lang="en-US" sz="140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"great, another delay 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🙄</a:t>
            </a: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 → </a:t>
            </a:r>
            <a:r>
              <a:rPr lang="en-US" sz="140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is sick" → </a:t>
            </a:r>
            <a:r>
              <a:rPr lang="en-US" sz="140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hi-IN" alt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"यह बहुत अच्छा है" → </a:t>
            </a:r>
            <a:r>
              <a:rPr lang="en-US" sz="140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3296741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Coverage: English · Hindi/Devanagari · Hinglish · Portuguese/German · emojis · negation · sarcasm patterns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3784699"/>
            <a:ext cx="10868745" cy="716855"/>
          </a:xfrm>
          <a:prstGeom prst="roundRect">
            <a:avLst>
              <a:gd name="adj" fmla="val 3832"/>
            </a:avLst>
          </a:prstGeom>
          <a:solidFill>
            <a:srgbClr val="4B3F0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4038005"/>
            <a:ext cx="228793" cy="1830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56376" y="4007743"/>
            <a:ext cx="1070037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Hindi negation remains a known weak area.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475" y="4792563"/>
            <a:ext cx="3475149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203K</a:t>
            </a:r>
            <a:endParaRPr lang="en-US" sz="4750" dirty="0"/>
          </a:p>
        </p:txBody>
      </p:sp>
      <p:sp>
        <p:nvSpPr>
          <p:cNvPr id="10" name="Text 7"/>
          <p:cNvSpPr/>
          <p:nvPr/>
        </p:nvSpPr>
        <p:spPr>
          <a:xfrm>
            <a:off x="661475" y="5621238"/>
            <a:ext cx="347514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Positive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1475" y="6013648"/>
            <a:ext cx="3475149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203,161 posts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58273" y="4792563"/>
            <a:ext cx="3475149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134K</a:t>
            </a:r>
            <a:endParaRPr lang="en-US" sz="4750" dirty="0"/>
          </a:p>
        </p:txBody>
      </p:sp>
      <p:sp>
        <p:nvSpPr>
          <p:cNvPr id="13" name="Text 10"/>
          <p:cNvSpPr/>
          <p:nvPr/>
        </p:nvSpPr>
        <p:spPr>
          <a:xfrm>
            <a:off x="4358273" y="5621238"/>
            <a:ext cx="347514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Neutral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58273" y="6013648"/>
            <a:ext cx="3475149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134,520 posts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55071" y="4792563"/>
            <a:ext cx="3475149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7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69K</a:t>
            </a:r>
            <a:endParaRPr lang="en-US" sz="4750" dirty="0"/>
          </a:p>
        </p:txBody>
      </p:sp>
      <p:sp>
        <p:nvSpPr>
          <p:cNvPr id="16" name="Text 13"/>
          <p:cNvSpPr/>
          <p:nvPr/>
        </p:nvSpPr>
        <p:spPr>
          <a:xfrm>
            <a:off x="8055071" y="5621238"/>
            <a:ext cx="347514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Negative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055071" y="6013648"/>
            <a:ext cx="3475149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69,546 posts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223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2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dead ends were useful.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448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approaches were tested and </a:t>
            </a:r>
            <a:r>
              <a:rPr lang="en-US" sz="14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rejected based on measured error</a:t>
            </a: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intuition.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580543"/>
              </p:ext>
            </p:extLst>
          </p:nvPr>
        </p:nvGraphicFramePr>
        <p:xfrm>
          <a:off x="661475" y="2359918"/>
          <a:ext cx="10868745" cy="3093959"/>
        </p:xfrm>
        <a:graphic>
          <a:graphicData uri="http://schemas.openxmlformats.org/drawingml/2006/table">
            <a:tbl>
              <a:tblPr/>
              <a:tblGrid>
                <a:gridCol w="4347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Method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Precision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Recall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Verdict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activity / repetition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6.4%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40.7%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 many false positives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Profile / activity metadata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7.3%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8.1%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 standalone separation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Coordinated repeated text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FF6B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8.1%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99.7%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6D9D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recall, unusable precision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D31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F6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56682" y="567928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iteration — every rejected method narrowed the solution space.</a:t>
            </a:r>
            <a:endParaRPr lang="en-US" sz="1450" dirty="0"/>
          </a:p>
        </p:txBody>
      </p:sp>
      <p:sp>
        <p:nvSpPr>
          <p:cNvPr id="6" name="Rectangle 5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2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Only trusted evidence reaches the alert layer.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45" y="909538"/>
            <a:ext cx="9696406" cy="529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6245" y="3392284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Raw Posts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199678" y="3357809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Data-Quality Audit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28174" y="3368848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Relevance Filter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56682" y="6208216"/>
            <a:ext cx="11478330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is context. Sustained, relevant human sentiment is the signal.</a:t>
            </a:r>
            <a:endParaRPr lang="en-US" sz="1500" dirty="0"/>
          </a:p>
        </p:txBody>
      </p:sp>
      <p:sp>
        <p:nvSpPr>
          <p:cNvPr id="8" name="Rectangle 7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30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062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VSS asks: is sentiment unusually negative for this market?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2028825"/>
            <a:ext cx="58026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formula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900685" y="2550319"/>
            <a:ext cx="617303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VSS = Current 15-min net sentiment − 14-day same-market baseline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2429272"/>
            <a:ext cx="19050" cy="477242"/>
          </a:xfrm>
          <a:prstGeom prst="roundRect">
            <a:avLst>
              <a:gd name="adj" fmla="val 49999"/>
            </a:avLst>
          </a:prstGeom>
          <a:solidFill>
            <a:srgbClr val="AC9EF5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57823"/>
            <a:ext cx="5802663" cy="826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sentiment = % positive − % negative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</a:t>
            </a:r>
            <a:r>
              <a:rPr lang="en-US" sz="125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posts</a:t>
            </a: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5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relevant posts</a:t>
            </a: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25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known-market posts</a:t>
            </a: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qualify.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4075410"/>
            <a:ext cx="5802663" cy="19050"/>
          </a:xfrm>
          <a:prstGeom prst="roundRect">
            <a:avLst>
              <a:gd name="adj" fmla="val 49999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4285555"/>
            <a:ext cx="58026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decision gates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1475" y="4669234"/>
            <a:ext cx="5802663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 220 qualifying posts</a:t>
            </a: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2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SIGNAL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VSS ≤ −14 + 3 consecutive 15-min windows</a:t>
            </a: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250" dirty="0">
                <a:solidFill>
                  <a:srgbClr val="FF6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1475" y="5307608"/>
            <a:ext cx="641224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volume alone never triggers an alert.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269" y="1440557"/>
            <a:ext cx="4986201" cy="498632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902332" y="6426882"/>
            <a:ext cx="1255776" cy="357965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0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684"/>
            <a:ext cx="10868745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280 windows. 20 escalation windows.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062732"/>
            <a:ext cx="3567420" cy="370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280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61475" y="1539081"/>
            <a:ext cx="356742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Windows analyzed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1475" y="1754287"/>
            <a:ext cx="356742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15-minute window across the full event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12137" y="1062732"/>
            <a:ext cx="3567420" cy="370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35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4312137" y="1539081"/>
            <a:ext cx="356742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Breach windows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2137" y="1754287"/>
            <a:ext cx="356742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VSS ≤ −14 recorded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962800" y="1062732"/>
            <a:ext cx="3567420" cy="370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20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962800" y="1539081"/>
            <a:ext cx="3567420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Escalation windows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62800" y="1754287"/>
            <a:ext cx="356742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consecutive breaches confirmed</a:t>
            </a:r>
            <a:endParaRPr lang="en-US" sz="8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47180"/>
            <a:ext cx="6411653" cy="421312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53314" y="2047180"/>
            <a:ext cx="4183156" cy="461963"/>
          </a:xfrm>
          <a:prstGeom prst="roundRect">
            <a:avLst>
              <a:gd name="adj" fmla="val 3644"/>
            </a:avLst>
          </a:prstGeom>
          <a:solidFill>
            <a:srgbClr val="1D0C7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528" y="2151459"/>
            <a:ext cx="140193" cy="112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17934" y="2135088"/>
            <a:ext cx="3706323" cy="286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 announcement detected with a </a:t>
            </a: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30-minute delay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only confirmed incident in the review window.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8123848" y="2751106"/>
            <a:ext cx="3245324" cy="844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spcAft>
                <a:spcPts val="450"/>
              </a:spcAft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suppresses isolated noise and requires </a:t>
            </a: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sustained evidence</a:t>
            </a: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escalating.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spikes are expected. Consecutive breaches are the signal.</a:t>
            </a:r>
            <a:endParaRPr lang="en-US" sz="850" dirty="0"/>
          </a:p>
        </p:txBody>
      </p:sp>
      <p:sp>
        <p:nvSpPr>
          <p:cNvPr id="17" name="Rectangle 16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28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661475" y="58737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system was selective — but too selective.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61475" y="1335782"/>
            <a:ext cx="1584385" cy="23782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5333" y="1382713"/>
            <a:ext cx="2006252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INCIDENT EVALUATION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236378"/>
              </p:ext>
            </p:extLst>
          </p:nvPr>
        </p:nvGraphicFramePr>
        <p:xfrm>
          <a:off x="661475" y="1719362"/>
          <a:ext cx="10868745" cy="2816848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Incident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Result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Detail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Queue crush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500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MISSED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—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Sound failure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500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MISSED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—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Sponsor announcement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5D5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DETECTED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+30 min lead time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Payment outage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500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MISSED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—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Positive decoy 1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3D42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IGNORED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 false escalations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Positive decoy 2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D3D42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IGNORED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FD0D8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 false escalations</a:t>
                      </a:r>
                      <a:endParaRPr lang="en-US" sz="12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61475" y="2109718"/>
            <a:ext cx="10868745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661475" y="2513032"/>
            <a:ext cx="10868745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61475" y="2916346"/>
            <a:ext cx="10868745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61475" y="3319660"/>
            <a:ext cx="10868745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661475" y="3722974"/>
            <a:ext cx="10868745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61475" y="4126288"/>
            <a:ext cx="10868745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661475" y="4694734"/>
            <a:ext cx="10868745" cy="876796"/>
          </a:xfrm>
          <a:prstGeom prst="roundRect">
            <a:avLst>
              <a:gd name="adj" fmla="val 749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7825" y="4701084"/>
            <a:ext cx="5428023" cy="864096"/>
          </a:xfrm>
          <a:custGeom>
            <a:avLst/>
            <a:gdLst/>
            <a:ahLst/>
            <a:cxnLst/>
            <a:rect l="l" t="t" r="r" b="b"/>
            <a:pathLst>
              <a:path w="5428023" h="864096">
                <a:moveTo>
                  <a:pt x="54786" y="0"/>
                </a:moveTo>
                <a:lnTo>
                  <a:pt x="5428023" y="0"/>
                </a:lnTo>
                <a:lnTo>
                  <a:pt x="5428023" y="864096"/>
                </a:lnTo>
                <a:lnTo>
                  <a:pt x="54786" y="864096"/>
                </a:lnTo>
                <a:arcTo wR="54786" hR="54787" stAng="5400000" swAng="5400000"/>
                <a:lnTo>
                  <a:pt x="0" y="54787"/>
                </a:lnTo>
                <a:arcTo wR="54786" hR="54787" stAng="10800000" swAng="5400000"/>
                <a:close/>
              </a:path>
            </a:pathLst>
          </a:custGeom>
          <a:solidFill>
            <a:srgbClr val="3D3D42"/>
          </a:solidFill>
          <a:ln/>
        </p:spPr>
      </p:sp>
      <p:sp>
        <p:nvSpPr>
          <p:cNvPr id="15" name="Text 11"/>
          <p:cNvSpPr/>
          <p:nvPr/>
        </p:nvSpPr>
        <p:spPr>
          <a:xfrm>
            <a:off x="824289" y="4857552"/>
            <a:ext cx="511509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 / 6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24289" y="5179814"/>
            <a:ext cx="511509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Planted incidents detected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95848" y="4701084"/>
            <a:ext cx="5428023" cy="864096"/>
          </a:xfrm>
          <a:custGeom>
            <a:avLst/>
            <a:gdLst/>
            <a:ahLst/>
            <a:cxnLst/>
            <a:rect l="l" t="t" r="r" b="b"/>
            <a:pathLst>
              <a:path w="5428023" h="864096">
                <a:moveTo>
                  <a:pt x="0" y="0"/>
                </a:moveTo>
                <a:lnTo>
                  <a:pt x="5373237" y="0"/>
                </a:lnTo>
                <a:arcTo wR="54786" hR="54787" stAng="16200000" swAng="5400000"/>
                <a:lnTo>
                  <a:pt x="5428023" y="809309"/>
                </a:lnTo>
                <a:arcTo wR="54786" hR="54787" stAng="0" swAng="5400000"/>
                <a:lnTo>
                  <a:pt x="0" y="864096"/>
                </a:lnTo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5848" y="4701084"/>
            <a:ext cx="19050" cy="864096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</p:sp>
      <p:sp>
        <p:nvSpPr>
          <p:cNvPr id="19" name="Text 15"/>
          <p:cNvSpPr/>
          <p:nvPr/>
        </p:nvSpPr>
        <p:spPr>
          <a:xfrm>
            <a:off x="6252312" y="4857552"/>
            <a:ext cx="511509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52312" y="5179814"/>
            <a:ext cx="511509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escalations on positive decoys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61475" y="5717282"/>
            <a:ext cx="10868745" cy="553244"/>
          </a:xfrm>
          <a:prstGeom prst="roundRect">
            <a:avLst>
              <a:gd name="adj" fmla="val 11883"/>
            </a:avLst>
          </a:prstGeom>
          <a:solidFill>
            <a:srgbClr val="4B3F02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39" y="5901432"/>
            <a:ext cx="195654" cy="1564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70057" y="5885954"/>
            <a:ext cx="1081328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is a realistic stress test that revealed blind spots — not a successful incident detector.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1856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637861" y="44886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misses are the most important result.</a:t>
            </a:r>
            <a:endParaRPr lang="en-US" sz="2400" dirty="0"/>
          </a:p>
        </p:txBody>
      </p:sp>
      <p:sp>
        <p:nvSpPr>
          <p:cNvPr id="8" name="Shape 1"/>
          <p:cNvSpPr/>
          <p:nvPr/>
        </p:nvSpPr>
        <p:spPr>
          <a:xfrm>
            <a:off x="661474" y="909538"/>
            <a:ext cx="2934119" cy="192772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718127" y="937816"/>
            <a:ext cx="222433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DID WE MISS THREE REAL INCIDENTS?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76" y="1350769"/>
            <a:ext cx="5780524" cy="3992684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937131" y="2324197"/>
            <a:ext cx="5202674" cy="27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missed incident maps to at least one structural gap in how the system filters and scores incoming signals</a:t>
            </a:r>
            <a:r>
              <a:rPr lang="en-US" sz="800" dirty="0" smtClean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800" dirty="0">
              <a:solidFill>
                <a:srgbClr val="CFD0D8"/>
              </a:solidFill>
              <a:latin typeface="Instrument Sans Medium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800" dirty="0" smtClean="0">
              <a:solidFill>
                <a:srgbClr val="CFD0D8"/>
              </a:solidFill>
              <a:latin typeface="Instrument Sans Medium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8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6937131" y="2164762"/>
            <a:ext cx="4593089" cy="823128"/>
            <a:chOff x="6217487" y="3455690"/>
            <a:chExt cx="5319083" cy="823128"/>
          </a:xfrm>
        </p:grpSpPr>
        <p:sp>
          <p:nvSpPr>
            <p:cNvPr id="11" name="Text 3"/>
            <p:cNvSpPr/>
            <p:nvPr/>
          </p:nvSpPr>
          <p:spPr>
            <a:xfrm>
              <a:off x="6217487" y="3455690"/>
              <a:ext cx="5319083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CBCCCE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Plausible failure modes</a:t>
              </a:r>
              <a:endParaRPr lang="en-US" sz="900" dirty="0"/>
            </a:p>
          </p:txBody>
        </p:sp>
        <p:sp>
          <p:nvSpPr>
            <p:cNvPr id="13" name="Shape 5"/>
            <p:cNvSpPr/>
            <p:nvPr/>
          </p:nvSpPr>
          <p:spPr>
            <a:xfrm>
              <a:off x="6217487" y="3817045"/>
              <a:ext cx="5319083" cy="358973"/>
            </a:xfrm>
            <a:prstGeom prst="roundRect">
              <a:avLst>
                <a:gd name="adj" fmla="val 11058"/>
              </a:avLst>
            </a:prstGeom>
            <a:solidFill>
              <a:srgbClr val="3D3D42"/>
            </a:solidFill>
            <a:ln/>
          </p:spPr>
        </p:sp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1941" y="3887887"/>
              <a:ext cx="118067" cy="94456"/>
            </a:xfrm>
            <a:prstGeom prst="rect">
              <a:avLst/>
            </a:prstGeom>
          </p:spPr>
        </p:pic>
        <p:sp>
          <p:nvSpPr>
            <p:cNvPr id="15" name="Text 6"/>
            <p:cNvSpPr/>
            <p:nvPr/>
          </p:nvSpPr>
          <p:spPr>
            <a:xfrm>
              <a:off x="6524462" y="3883123"/>
              <a:ext cx="4743316" cy="3956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These are plausible failure modes supported by data and system design — not claimed as proven root causes for every miss.</a:t>
              </a:r>
              <a:endParaRPr lang="en-US" sz="700" dirty="0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54321" y="5724455"/>
            <a:ext cx="11108550" cy="630920"/>
            <a:chOff x="554321" y="5917994"/>
            <a:chExt cx="11108550" cy="630920"/>
          </a:xfrm>
        </p:grpSpPr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554321" y="5931873"/>
              <a:ext cx="2681717" cy="617041"/>
            </a:xfrm>
            <a:prstGeom prst="rect">
              <a:avLst/>
            </a:prstGeom>
          </p:spPr>
        </p:pic>
        <p:sp>
          <p:nvSpPr>
            <p:cNvPr id="17" name="Text 7"/>
            <p:cNvSpPr/>
            <p:nvPr/>
          </p:nvSpPr>
          <p:spPr>
            <a:xfrm>
              <a:off x="686873" y="6092755"/>
              <a:ext cx="2416611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CFD0D8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Visibility</a:t>
              </a:r>
              <a:endParaRPr lang="en-US" sz="900" dirty="0"/>
            </a:p>
          </p:txBody>
        </p:sp>
        <p:sp>
          <p:nvSpPr>
            <p:cNvPr id="18" name="Text 8"/>
            <p:cNvSpPr/>
            <p:nvPr/>
          </p:nvSpPr>
          <p:spPr>
            <a:xfrm>
              <a:off x="686872" y="6240393"/>
              <a:ext cx="2416611" cy="22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700" dirty="0">
                  <a:solidFill>
                    <a:srgbClr val="CFD0D8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Real incidents may not generate enough relevant social posts to cross qualifying thresholds.</a:t>
              </a:r>
              <a:endParaRPr lang="en-US" sz="700" dirty="0"/>
            </a:p>
          </p:txBody>
        </p:sp>
        <p:pic>
          <p:nvPicPr>
            <p:cNvPr id="19" name="Image 3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390418" y="5931873"/>
              <a:ext cx="2681816" cy="617041"/>
            </a:xfrm>
            <a:prstGeom prst="rect">
              <a:avLst/>
            </a:prstGeom>
          </p:spPr>
        </p:pic>
        <p:sp>
          <p:nvSpPr>
            <p:cNvPr id="20" name="Text 9"/>
            <p:cNvSpPr/>
            <p:nvPr/>
          </p:nvSpPr>
          <p:spPr>
            <a:xfrm>
              <a:off x="3595595" y="6039915"/>
              <a:ext cx="2416710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CFD0D8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Duration</a:t>
              </a:r>
              <a:endParaRPr lang="en-US" sz="900" dirty="0"/>
            </a:p>
          </p:txBody>
        </p:sp>
        <p:sp>
          <p:nvSpPr>
            <p:cNvPr id="21" name="Text 10"/>
            <p:cNvSpPr/>
            <p:nvPr/>
          </p:nvSpPr>
          <p:spPr>
            <a:xfrm>
              <a:off x="3595594" y="6207989"/>
              <a:ext cx="2416710" cy="22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700" dirty="0">
                  <a:solidFill>
                    <a:srgbClr val="CFD0D8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Short negative events may not persist across three consecutive 15-minute breach windows.</a:t>
              </a:r>
              <a:endParaRPr lang="en-US" sz="700" dirty="0"/>
            </a:p>
          </p:txBody>
        </p:sp>
        <p:pic>
          <p:nvPicPr>
            <p:cNvPr id="22" name="Image 4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6144859" y="5927924"/>
              <a:ext cx="2681717" cy="617041"/>
            </a:xfrm>
            <a:prstGeom prst="rect">
              <a:avLst/>
            </a:prstGeom>
          </p:spPr>
        </p:pic>
        <p:sp>
          <p:nvSpPr>
            <p:cNvPr id="23" name="Text 11"/>
            <p:cNvSpPr/>
            <p:nvPr/>
          </p:nvSpPr>
          <p:spPr>
            <a:xfrm>
              <a:off x="6318339" y="6060351"/>
              <a:ext cx="2416611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CFD0D8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Language</a:t>
              </a:r>
              <a:endParaRPr lang="en-US" sz="900" dirty="0"/>
            </a:p>
          </p:txBody>
        </p:sp>
        <p:sp>
          <p:nvSpPr>
            <p:cNvPr id="24" name="Text 12"/>
            <p:cNvSpPr/>
            <p:nvPr/>
          </p:nvSpPr>
          <p:spPr>
            <a:xfrm>
              <a:off x="6318339" y="6208821"/>
              <a:ext cx="2416611" cy="22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700" dirty="0">
                  <a:solidFill>
                    <a:srgbClr val="CFD0D8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Operational problems expressed neutrally produce no detectable negative sentiment signal.</a:t>
              </a:r>
              <a:endParaRPr lang="en-US" sz="700" dirty="0"/>
            </a:p>
          </p:txBody>
        </p:sp>
        <p:pic>
          <p:nvPicPr>
            <p:cNvPr id="25" name="Image 5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8981055" y="5917994"/>
              <a:ext cx="2681816" cy="617041"/>
            </a:xfrm>
            <a:prstGeom prst="rect">
              <a:avLst/>
            </a:prstGeom>
          </p:spPr>
        </p:pic>
        <p:sp>
          <p:nvSpPr>
            <p:cNvPr id="26" name="Text 13"/>
            <p:cNvSpPr/>
            <p:nvPr/>
          </p:nvSpPr>
          <p:spPr>
            <a:xfrm>
              <a:off x="9113510" y="6047510"/>
              <a:ext cx="2416710" cy="1476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dirty="0">
                  <a:solidFill>
                    <a:srgbClr val="CFD0D8"/>
                  </a:solidFill>
                  <a:latin typeface="Instrument Sans SemiBold" pitchFamily="34" charset="0"/>
                  <a:ea typeface="Instrument Sans SemiBold" pitchFamily="34" charset="-122"/>
                  <a:cs typeface="Instrument Sans SemiBold" pitchFamily="34" charset="-120"/>
                </a:rPr>
                <a:t>Geography</a:t>
              </a:r>
              <a:endParaRPr lang="en-US" sz="900" dirty="0"/>
            </a:p>
          </p:txBody>
        </p:sp>
        <p:sp>
          <p:nvSpPr>
            <p:cNvPr id="27" name="Text 14"/>
            <p:cNvSpPr/>
            <p:nvPr/>
          </p:nvSpPr>
          <p:spPr>
            <a:xfrm>
              <a:off x="9119860" y="6192068"/>
              <a:ext cx="2416710" cy="226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700" dirty="0">
                  <a:solidFill>
                    <a:srgbClr val="CFD0D8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Posts without usable location data cannot contribute to market-level VSS scoring.</a:t>
              </a:r>
              <a:endParaRPr lang="en-US" sz="700" dirty="0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62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661475" y="55632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Watch sustained, relevant human sentiment.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61475" y="1422102"/>
            <a:ext cx="3489337" cy="264616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5950" y="1474291"/>
            <a:ext cx="3889972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THE COMMAND CENTRE SHOULD WATCH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90638"/>
            <a:ext cx="5786491" cy="3987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6397" y="4571990"/>
            <a:ext cx="1581294" cy="21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Noise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153885" y="2897388"/>
            <a:ext cx="1632666" cy="21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Filter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49896" y="5062434"/>
            <a:ext cx="1581294" cy="21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Sustained Signal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653553" y="3338215"/>
            <a:ext cx="1581294" cy="21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753949" y="1867396"/>
            <a:ext cx="4907931" cy="4434284"/>
          </a:xfrm>
          <a:prstGeom prst="roundRect">
            <a:avLst>
              <a:gd name="adj" fmla="val 2829"/>
            </a:avLst>
          </a:prstGeom>
          <a:solidFill>
            <a:srgbClr val="3D3D42">
              <a:alpha val="9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928173" y="2028031"/>
            <a:ext cx="455948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Signal checklist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928173" y="2460823"/>
            <a:ext cx="4559484" cy="188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Sustained VSS ≤ −14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 consecutive 15-minute breach windows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Adequate qualifying post volume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Relevant Kestrel / event posts only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Human-origin traffic confirmed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Market-level concentration present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928173" y="4492923"/>
            <a:ext cx="4559484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Prioritise alerts over raw volume. The system surfaces evidence — human review makes the call.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928173" y="5209183"/>
            <a:ext cx="4559484" cy="911820"/>
          </a:xfrm>
          <a:prstGeom prst="roundRect">
            <a:avLst>
              <a:gd name="adj" fmla="val 8026"/>
            </a:avLst>
          </a:prstGeom>
          <a:solidFill>
            <a:srgbClr val="3D3D42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397" y="5457726"/>
            <a:ext cx="217780" cy="1742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4400" y="5397302"/>
            <a:ext cx="381903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 as an early-warning layer, not an autonomous incident diagnosis tool.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5095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661475" y="580727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Not every spike deserves escalation.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61475" y="1218307"/>
            <a:ext cx="2807721" cy="210741"/>
          </a:xfrm>
          <a:prstGeom prst="roundRect">
            <a:avLst>
              <a:gd name="adj" fmla="val 22132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4717" y="1259880"/>
            <a:ext cx="3250821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SIGNAL DISCIPLINE FOR THE COMMAND CENTRE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61475" y="1645543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95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IGNORE / DOWN-RANK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13464" y="1983929"/>
            <a:ext cx="208156" cy="208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2512" y="1977033"/>
            <a:ext cx="4814073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Raw post-volume spikes without sentiment evidence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13464" y="2610991"/>
            <a:ext cx="208156" cy="208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2512" y="2604095"/>
            <a:ext cx="4814073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Unrelated Kestrel mentions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13464" y="3238054"/>
            <a:ext cx="208156" cy="2081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12512" y="3231158"/>
            <a:ext cx="4814073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amplification signals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13464" y="3865116"/>
            <a:ext cx="208156" cy="20816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12512" y="3858220"/>
            <a:ext cx="4814073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Isolated VSS breaches (single window only)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13464" y="4492179"/>
            <a:ext cx="208156" cy="20816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12512" y="4485283"/>
            <a:ext cx="4814073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Windows below 220 qualifying posts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13464" y="5119241"/>
            <a:ext cx="208156" cy="208161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12512" y="5112345"/>
            <a:ext cx="4814073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Positive sentiment spikes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13464" y="5746304"/>
            <a:ext cx="208156" cy="20816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112512" y="5739408"/>
            <a:ext cx="4814073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Repeated text without strong supporting evidence</a:t>
            </a:r>
            <a:endParaRPr lang="en-US" sz="1050" dirty="0"/>
          </a:p>
        </p:txBody>
      </p:sp>
      <p:sp>
        <p:nvSpPr>
          <p:cNvPr id="21" name="Text 11"/>
          <p:cNvSpPr/>
          <p:nvPr/>
        </p:nvSpPr>
        <p:spPr>
          <a:xfrm>
            <a:off x="6271460" y="1645543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CANNOT RELIABLY SEE</a:t>
            </a:r>
            <a:endParaRPr lang="en-US" sz="13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Shape 12"/>
          <p:cNvSpPr/>
          <p:nvPr/>
        </p:nvSpPr>
        <p:spPr>
          <a:xfrm>
            <a:off x="6271460" y="1977033"/>
            <a:ext cx="2581607" cy="700881"/>
          </a:xfrm>
          <a:prstGeom prst="roundRect">
            <a:avLst>
              <a:gd name="adj" fmla="val 8318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6429313" y="2134890"/>
            <a:ext cx="2265901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Incidents where affected people are </a:t>
            </a:r>
            <a:r>
              <a:rPr lang="en-US" sz="105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not posting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8954963" y="1977033"/>
            <a:ext cx="2581607" cy="700881"/>
          </a:xfrm>
          <a:prstGeom prst="roundRect">
            <a:avLst>
              <a:gd name="adj" fmla="val 8318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9112816" y="2134890"/>
            <a:ext cx="2265901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issues expressed in </a:t>
            </a:r>
            <a:r>
              <a:rPr lang="en-US" sz="105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neutral language</a:t>
            </a:r>
            <a:endParaRPr lang="en-US" sz="1050" dirty="0"/>
          </a:p>
        </p:txBody>
      </p:sp>
      <p:sp>
        <p:nvSpPr>
          <p:cNvPr id="26" name="Shape 16"/>
          <p:cNvSpPr/>
          <p:nvPr/>
        </p:nvSpPr>
        <p:spPr>
          <a:xfrm>
            <a:off x="6271460" y="2779812"/>
            <a:ext cx="2581607" cy="700881"/>
          </a:xfrm>
          <a:prstGeom prst="roundRect">
            <a:avLst>
              <a:gd name="adj" fmla="val 8318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6429313" y="2937669"/>
            <a:ext cx="2265901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Sentiment in posts </a:t>
            </a:r>
            <a:r>
              <a:rPr lang="en-US" sz="105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without usable market data</a:t>
            </a:r>
            <a:endParaRPr lang="en-US" sz="1050" dirty="0"/>
          </a:p>
        </p:txBody>
      </p:sp>
      <p:sp>
        <p:nvSpPr>
          <p:cNvPr id="28" name="Shape 18"/>
          <p:cNvSpPr/>
          <p:nvPr/>
        </p:nvSpPr>
        <p:spPr>
          <a:xfrm>
            <a:off x="8954963" y="2779812"/>
            <a:ext cx="2581607" cy="700881"/>
          </a:xfrm>
          <a:prstGeom prst="roundRect">
            <a:avLst>
              <a:gd name="adj" fmla="val 8318"/>
            </a:avLst>
          </a:prstGeom>
          <a:solidFill>
            <a:srgbClr val="2A2A2D">
              <a:alpha val="95000"/>
            </a:srgbClr>
          </a:solidFill>
          <a:ln w="19050">
            <a:solidFill>
              <a:srgbClr val="56565B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9112816" y="2937669"/>
            <a:ext cx="2265901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Nuanced sarcasm and context </a:t>
            </a:r>
            <a:r>
              <a:rPr lang="en-US" sz="105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outside rule-based coverage</a:t>
            </a:r>
            <a:endParaRPr lang="en-US" sz="1050" dirty="0"/>
          </a:p>
        </p:txBody>
      </p:sp>
      <p:sp>
        <p:nvSpPr>
          <p:cNvPr id="30" name="Text 20"/>
          <p:cNvSpPr/>
          <p:nvPr/>
        </p:nvSpPr>
        <p:spPr>
          <a:xfrm>
            <a:off x="6479616" y="3686969"/>
            <a:ext cx="56665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system should know when it does not have enough evidence.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6271460" y="3595291"/>
            <a:ext cx="19050" cy="375940"/>
          </a:xfrm>
          <a:prstGeom prst="roundRect">
            <a:avLst>
              <a:gd name="adj" fmla="val 49999"/>
            </a:avLst>
          </a:prstGeom>
          <a:solidFill>
            <a:srgbClr val="D5D5D8"/>
          </a:solidFill>
          <a:ln/>
        </p:spPr>
      </p:sp>
    </p:spTree>
    <p:extLst>
      <p:ext uri="{BB962C8B-B14F-4D97-AF65-F5344CB8AC3E}">
        <p14:creationId xmlns:p14="http://schemas.microsoft.com/office/powerpoint/2010/main" val="311021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02332" y="6355080"/>
            <a:ext cx="1255776" cy="429768"/>
          </a:xfrm>
          <a:prstGeom prst="rect">
            <a:avLst/>
          </a:prstGeom>
          <a:solidFill>
            <a:srgbClr val="2D3133"/>
          </a:solidFill>
          <a:ln>
            <a:solidFill>
              <a:srgbClr val="2D31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661475" y="626666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From noisy social volume to evidence-backed escalation.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80525" y="1236118"/>
            <a:ext cx="1725371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FINAL TAKEAWAY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4" y="1802421"/>
            <a:ext cx="5434373" cy="649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05896" y="2000362"/>
            <a:ext cx="51095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FILTER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3890" y="2605646"/>
            <a:ext cx="5109539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 irrelevant and automated traffic before any scoring begins.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817191"/>
            <a:ext cx="5434373" cy="649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40269" y="2050653"/>
            <a:ext cx="51095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TRUST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258265" y="2605646"/>
            <a:ext cx="5109539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Score sentiment with explicit limitations acknowledged.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347938"/>
            <a:ext cx="5434373" cy="649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30900" y="3587075"/>
            <a:ext cx="51095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COMPARE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23892" y="4170937"/>
            <a:ext cx="51095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Measure against the same market's 14-day baseline — not absolute thresholds.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3347938"/>
            <a:ext cx="5434373" cy="6496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65273" y="3590133"/>
            <a:ext cx="510953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ESCALATE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258265" y="4174621"/>
            <a:ext cx="5109539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 only on sustained, volume-backed negative shifts — not isolated spikes.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1715054" y="5279922"/>
            <a:ext cx="1123475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Better monitoring is not about generating more alerts. It is about knowing which signals deserve attention.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1555460" y="5148442"/>
            <a:ext cx="19050" cy="555526"/>
          </a:xfrm>
          <a:prstGeom prst="roundRect">
            <a:avLst>
              <a:gd name="adj" fmla="val 49999"/>
            </a:avLst>
          </a:prstGeom>
          <a:solidFill>
            <a:srgbClr val="D5D5D8"/>
          </a:solidFill>
          <a:ln/>
        </p:spPr>
      </p:sp>
      <p:sp>
        <p:nvSpPr>
          <p:cNvPr id="20" name="Text 13"/>
          <p:cNvSpPr/>
          <p:nvPr/>
        </p:nvSpPr>
        <p:spPr>
          <a:xfrm>
            <a:off x="194266" y="6123609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8609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1022</Words>
  <Application>Microsoft Office PowerPoint</Application>
  <PresentationFormat>Widescreen</PresentationFormat>
  <Paragraphs>208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Instrument Sans Medium</vt:lpstr>
      <vt:lpstr>Inter Bold</vt:lpstr>
      <vt:lpstr>Instrument Sans</vt:lpstr>
      <vt:lpstr>Instrument Sans SemiBold</vt:lpstr>
      <vt:lpstr>Calibri</vt:lpstr>
      <vt:lpstr>Arial</vt:lpstr>
      <vt:lpstr>Instrument Sans Bold</vt:lpstr>
      <vt:lpstr>Inter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9</cp:revision>
  <dcterms:created xsi:type="dcterms:W3CDTF">2026-09-07T11:27:32Z</dcterms:created>
  <dcterms:modified xsi:type="dcterms:W3CDTF">2026-09-07T15:54:40Z</dcterms:modified>
</cp:coreProperties>
</file>