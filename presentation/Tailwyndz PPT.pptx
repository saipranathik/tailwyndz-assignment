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Bitter Medium" panose="020B0604020202020204" charset="0"/>
      <p:regular r:id="rId13"/>
    </p:embeddedFont>
    <p:embeddedFont>
      <p:font typeface="Open Sans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Open Sans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0622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CE2C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73880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112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Making Social-Listening Alerts Trustworthy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995712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Kestrel Festival — Social-Sentiment Early-Warning System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574455"/>
            <a:ext cx="6296860" cy="725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Kestrel's current social-listening dashboard fires alerts so frequently that the command centre has stopped trusting them — while genuine incidents can remain invisible when affected people are not posting.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61475" y="4512766"/>
            <a:ext cx="3053877" cy="1267916"/>
          </a:xfrm>
          <a:prstGeom prst="roundRect">
            <a:avLst>
              <a:gd name="adj" fmla="val 6261"/>
            </a:avLst>
          </a:prstGeom>
          <a:solidFill>
            <a:srgbClr val="FFF8F0"/>
          </a:solidFill>
          <a:ln w="25399">
            <a:solidFill>
              <a:srgbClr val="E2C8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5881" y="4727178"/>
            <a:ext cx="2625064" cy="839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150" b="1" kern="0" spc="-3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Problem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 many false alerts → missed real incidents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904359" y="4512766"/>
            <a:ext cx="3053976" cy="1267916"/>
          </a:xfrm>
          <a:prstGeom prst="roundRect">
            <a:avLst>
              <a:gd name="adj" fmla="val 6261"/>
            </a:avLst>
          </a:prstGeom>
          <a:solidFill>
            <a:srgbClr val="FFF8F0"/>
          </a:solidFill>
          <a:ln w="25399">
            <a:solidFill>
              <a:srgbClr val="E2C8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8765" y="4727178"/>
            <a:ext cx="2625163" cy="839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150" b="1" kern="0" spc="-3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Goal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Separate meaningful, sustained event signals from social-media noise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4200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11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From 1.2M Posts to an Actionable Signal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531938"/>
            <a:ext cx="114783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kern="0" spc="-29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Pipeline 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242443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E2C8B5"/>
          </a:solidFill>
          <a:ln/>
        </p:spPr>
      </p:sp>
      <p:sp>
        <p:nvSpPr>
          <p:cNvPr id="5" name="Shape 3"/>
          <p:cNvSpPr/>
          <p:nvPr/>
        </p:nvSpPr>
        <p:spPr>
          <a:xfrm>
            <a:off x="1458975" y="2242393"/>
            <a:ext cx="25399" cy="558205"/>
          </a:xfrm>
          <a:prstGeom prst="roundRect">
            <a:avLst>
              <a:gd name="adj" fmla="val 50001"/>
            </a:avLst>
          </a:prstGeom>
          <a:solidFill>
            <a:srgbClr val="E2C8B5"/>
          </a:solidFill>
          <a:ln/>
        </p:spPr>
      </p:sp>
      <p:sp>
        <p:nvSpPr>
          <p:cNvPr id="6" name="Shape 4"/>
          <p:cNvSpPr/>
          <p:nvPr/>
        </p:nvSpPr>
        <p:spPr>
          <a:xfrm>
            <a:off x="1262428" y="2033141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7505" y="2986782"/>
            <a:ext cx="124863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kern="0" spc="-55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Raw Posts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7505" y="3387328"/>
            <a:ext cx="1248637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kern="0" spc="-29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1,206,715 posts ingested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08565" y="2242393"/>
            <a:ext cx="25399" cy="558205"/>
          </a:xfrm>
          <a:prstGeom prst="roundRect">
            <a:avLst>
              <a:gd name="adj" fmla="val 50001"/>
            </a:avLst>
          </a:prstGeom>
          <a:solidFill>
            <a:srgbClr val="E2C8B5"/>
          </a:solidFill>
          <a:ln/>
        </p:spPr>
      </p:sp>
      <p:sp>
        <p:nvSpPr>
          <p:cNvPr id="10" name="Shape 8"/>
          <p:cNvSpPr/>
          <p:nvPr/>
        </p:nvSpPr>
        <p:spPr>
          <a:xfrm>
            <a:off x="3112017" y="2033141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095" y="2986782"/>
            <a:ext cx="1248637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kern="0" spc="-55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Quality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97095" y="3678039"/>
            <a:ext cx="124863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kern="0" spc="-29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 &amp; cleanup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58155" y="2242393"/>
            <a:ext cx="25399" cy="558205"/>
          </a:xfrm>
          <a:prstGeom prst="roundRect">
            <a:avLst>
              <a:gd name="adj" fmla="val 50001"/>
            </a:avLst>
          </a:prstGeom>
          <a:solidFill>
            <a:srgbClr val="E2C8B5"/>
          </a:solidFill>
          <a:ln/>
        </p:spPr>
      </p:sp>
      <p:sp>
        <p:nvSpPr>
          <p:cNvPr id="14" name="Shape 12"/>
          <p:cNvSpPr/>
          <p:nvPr/>
        </p:nvSpPr>
        <p:spPr>
          <a:xfrm>
            <a:off x="4961607" y="2033141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6685" y="2986782"/>
            <a:ext cx="124863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kern="0" spc="-55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Relevance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46685" y="3387328"/>
            <a:ext cx="1248637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kern="0" spc="-29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Filter confirmed relevant posts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07744" y="2242393"/>
            <a:ext cx="25399" cy="558205"/>
          </a:xfrm>
          <a:prstGeom prst="roundRect">
            <a:avLst>
              <a:gd name="adj" fmla="val 50001"/>
            </a:avLst>
          </a:prstGeom>
          <a:solidFill>
            <a:srgbClr val="E2C8B5"/>
          </a:solidFill>
          <a:ln/>
        </p:spPr>
      </p:sp>
      <p:sp>
        <p:nvSpPr>
          <p:cNvPr id="18" name="Shape 16"/>
          <p:cNvSpPr/>
          <p:nvPr/>
        </p:nvSpPr>
        <p:spPr>
          <a:xfrm>
            <a:off x="6811197" y="2033141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6274" y="2986782"/>
            <a:ext cx="1248637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kern="0" spc="-55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Automated Traffic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96274" y="3678039"/>
            <a:ext cx="1248637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kern="0" spc="-29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 &amp; remove bot-like posts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857334" y="2242393"/>
            <a:ext cx="25399" cy="558205"/>
          </a:xfrm>
          <a:prstGeom prst="roundRect">
            <a:avLst>
              <a:gd name="adj" fmla="val 50001"/>
            </a:avLst>
          </a:prstGeom>
          <a:solidFill>
            <a:srgbClr val="E2C8B5"/>
          </a:solidFill>
          <a:ln/>
        </p:spPr>
      </p:sp>
      <p:sp>
        <p:nvSpPr>
          <p:cNvPr id="22" name="Shape 20"/>
          <p:cNvSpPr/>
          <p:nvPr/>
        </p:nvSpPr>
        <p:spPr>
          <a:xfrm>
            <a:off x="8660786" y="2033141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45864" y="2986782"/>
            <a:ext cx="124863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kern="0" spc="-55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Sentiment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45864" y="3387328"/>
            <a:ext cx="1248637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kern="0" spc="-29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Post-level sentiment labels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707023" y="2242393"/>
            <a:ext cx="25399" cy="558205"/>
          </a:xfrm>
          <a:prstGeom prst="roundRect">
            <a:avLst>
              <a:gd name="adj" fmla="val 50001"/>
            </a:avLst>
          </a:prstGeom>
          <a:solidFill>
            <a:srgbClr val="E2C8B5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0475" y="2033141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95454" y="2986782"/>
            <a:ext cx="124873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kern="0" spc="-55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VSS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95454" y="3387328"/>
            <a:ext cx="1248736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kern="0" spc="-29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15-minute market-level Verified Sentiment Shift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1475" y="4402931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B2E3C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61475" y="4680744"/>
            <a:ext cx="10868745" cy="1593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spcAft>
                <a:spcPts val="1600"/>
              </a:spcAft>
              <a:buNone/>
            </a:pPr>
            <a:r>
              <a:rPr lang="en-US" sz="1450" b="1" kern="0" spc="-29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Current output:</a:t>
            </a:r>
            <a:r>
              <a:rPr lang="en-US" sz="1450" kern="0" spc="-29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structured 15-minute market-level early-warning signals.</a:t>
            </a:r>
            <a:endParaRPr lang="en-US" sz="1450" dirty="0"/>
          </a:p>
          <a:p>
            <a:pPr marL="0" indent="0" algn="l">
              <a:lnSpc>
                <a:spcPct val="132000"/>
              </a:lnSpc>
              <a:spcAft>
                <a:spcPts val="1600"/>
              </a:spcAft>
              <a:buNone/>
            </a:pPr>
            <a:r>
              <a:rPr lang="en-US" sz="1450" b="1" kern="0" spc="-29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States:</a:t>
            </a:r>
            <a:r>
              <a:rPr lang="en-US" sz="1450" kern="0" spc="-29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 SIGNAL · MONITOR · ESCALATE</a:t>
            </a:r>
            <a:endParaRPr lang="en-US" sz="14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450" b="1" kern="0" spc="-29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Implementation:</a:t>
            </a:r>
            <a:r>
              <a:rPr lang="en-US" sz="1450" kern="0" spc="-29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Python analysis pipeline + structured outputs. Production extension: command-centre dashboard / alerting interface (not built here).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4180734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095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89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Before Sentiment, Could I Trust the Data?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244699"/>
            <a:ext cx="11478330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audit metrics :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873008"/>
              </p:ext>
            </p:extLst>
          </p:nvPr>
        </p:nvGraphicFramePr>
        <p:xfrm>
          <a:off x="661475" y="1596132"/>
          <a:ext cx="10868746" cy="3357477"/>
        </p:xfrm>
        <a:graphic>
          <a:graphicData uri="http://schemas.openxmlformats.org/drawingml/2006/table">
            <a:tbl>
              <a:tblPr/>
              <a:tblGrid>
                <a:gridCol w="4845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3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0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4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Ingested posts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4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1,206,715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4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Unique authors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4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75,000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0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4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Timestamp formats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4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0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4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Late-arriving rows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4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36,201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0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4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Unmatched author-ID rows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4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46,863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0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4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Unparsed timestamps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4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0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4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Exact duplicate full rows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4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0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4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Exact duplicate event rows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4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2,190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5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0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4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Missing geography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4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30.12%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0624" marR="150624" marT="6350" marB="6350" anchor="ctr">
                    <a:lnL w="12700" cap="flat" cmpd="sng" algn="ctr">
                      <a:solidFill>
                        <a:srgbClr val="FFF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E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1475" y="5452765"/>
            <a:ext cx="10868745" cy="519609"/>
          </a:xfrm>
          <a:prstGeom prst="roundRect">
            <a:avLst>
              <a:gd name="adj" fmla="val 12175"/>
            </a:avLst>
          </a:prstGeom>
          <a:solidFill>
            <a:srgbClr val="FCE2C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85" y="5624513"/>
            <a:ext cx="188213" cy="1506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50909" y="5610324"/>
            <a:ext cx="1083828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Unreliable timestamps, identities, or metadata can create unreliable downstream alerts.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798578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8502"/>
            <a:ext cx="10868745" cy="959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kern="0" spc="-91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Not Every Kestrel Mention — and Not Every Post — Deserves Trust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767880"/>
            <a:ext cx="114783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Relevance - 325,831 total Kestrel mentions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2130822"/>
            <a:ext cx="3539739" cy="882452"/>
          </a:xfrm>
          <a:prstGeom prst="roundRect">
            <a:avLst>
              <a:gd name="adj" fmla="val 7309"/>
            </a:avLst>
          </a:prstGeom>
          <a:solidFill>
            <a:srgbClr val="FFF8F0"/>
          </a:solidFill>
          <a:ln w="19050">
            <a:solidFill>
              <a:srgbClr val="E2C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4012" y="2303363"/>
            <a:ext cx="319466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45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Confirmed relevant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4012" y="2618085"/>
            <a:ext cx="319466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119,675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928" y="2130822"/>
            <a:ext cx="3539739" cy="882452"/>
          </a:xfrm>
          <a:prstGeom prst="roundRect">
            <a:avLst>
              <a:gd name="adj" fmla="val 7309"/>
            </a:avLst>
          </a:prstGeom>
          <a:solidFill>
            <a:srgbClr val="FFF8F0"/>
          </a:solidFill>
          <a:ln w="19050">
            <a:solidFill>
              <a:srgbClr val="E2C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8466" y="2303363"/>
            <a:ext cx="319466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45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Ambiguous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98466" y="2618085"/>
            <a:ext cx="319466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120,365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90382" y="2130822"/>
            <a:ext cx="3539739" cy="882452"/>
          </a:xfrm>
          <a:prstGeom prst="roundRect">
            <a:avLst>
              <a:gd name="adj" fmla="val 7309"/>
            </a:avLst>
          </a:prstGeom>
          <a:solidFill>
            <a:srgbClr val="FFF8F0"/>
          </a:solidFill>
          <a:ln w="19050">
            <a:solidFill>
              <a:srgbClr val="E2C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62919" y="2303363"/>
            <a:ext cx="319466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45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Irrelevant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62919" y="2618085"/>
            <a:ext cx="319466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85,791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1475" y="3153569"/>
            <a:ext cx="11478330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b="1" kern="0" spc="-24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Interpretation:</a:t>
            </a:r>
            <a:r>
              <a:rPr lang="en-US" sz="950" kern="0" spc="-24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Kestrel mention ≠ festival-related post. Ambiguous/irrelevant mentions must not drive trusted signals.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61475" y="3518793"/>
            <a:ext cx="1086874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45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Automated traffic (post-level)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1475" y="4022527"/>
            <a:ext cx="2048915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kern="0" spc="-73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87,868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61475" y="4499967"/>
            <a:ext cx="204891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kern="0" spc="-45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True automated posts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1475" y="4814689"/>
            <a:ext cx="204891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Detected by final classifier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66358" y="4022527"/>
            <a:ext cx="204901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kern="0" spc="-73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85,344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866358" y="4499967"/>
            <a:ext cx="204901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kern="0" spc="-45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Predicted automated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866358" y="4814689"/>
            <a:ext cx="20490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output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1340" y="4022527"/>
            <a:ext cx="2048915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kern="0" spc="-73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97.0%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071340" y="4499967"/>
            <a:ext cx="204891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kern="0" spc="-45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71340" y="4814689"/>
            <a:ext cx="204891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accuracy on positive alerts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76223" y="4022527"/>
            <a:ext cx="2049014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kern="0" spc="-73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94.2%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276223" y="4499967"/>
            <a:ext cx="204901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kern="0" spc="-45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Recall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276223" y="4814689"/>
            <a:ext cx="20490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capture rate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481206" y="4022527"/>
            <a:ext cx="2048915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kern="0" spc="-73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0.632%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481206" y="4499967"/>
            <a:ext cx="204891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kern="0" spc="-45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Error rate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481206" y="4814689"/>
            <a:ext cx="204891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Post-level classification error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1475" y="5400278"/>
            <a:ext cx="10868745" cy="536178"/>
          </a:xfrm>
          <a:prstGeom prst="roundRect">
            <a:avLst>
              <a:gd name="adj" fmla="val 12030"/>
            </a:avLst>
          </a:prstGeom>
          <a:solidFill>
            <a:srgbClr val="FCE2CF"/>
          </a:solidFill>
          <a:ln/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962" y="5581352"/>
            <a:ext cx="191884" cy="153491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60334" y="5563295"/>
            <a:ext cx="1082598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Keyword matching alone would pollute the signal. Automated amplification can distort volume-based measures.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68611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9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112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Sentiment Is the Signal — But It Has Limits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89088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kern="0" spc="-14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203,161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244901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Positive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4363135" y="1589088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kern="0" spc="-14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134,520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4363135" y="244901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Neutral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064794" y="1589088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kern="0" spc="-14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69,546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8064794" y="244901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Negative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61475" y="302775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Coverage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61475" y="360650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English · Hindi / Devanagari · Hinglish · Portuguese / German · emojis · negation · selected sarcasm patterns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475" y="419238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Known weakness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61475" y="477113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Hindi negation remains a weak area — examples: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1475" y="5286177"/>
            <a:ext cx="10868745" cy="1045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"not bad at all actually" → Positive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"great, another delay </a:t>
            </a:r>
            <a:r>
              <a:rPr lang="en-US" sz="1450" kern="0" spc="-3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🙄</a:t>
            </a: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 → Negative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hi-IN" alt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"यह बहुत अच्छा है" → Positive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294494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661475" y="525165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kern="0" spc="-96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What Does the System Actually Produce?</a:t>
            </a:r>
            <a:endParaRPr lang="en-US" sz="3150" dirty="0"/>
          </a:p>
        </p:txBody>
      </p:sp>
      <p:sp>
        <p:nvSpPr>
          <p:cNvPr id="27" name="Text 1"/>
          <p:cNvSpPr/>
          <p:nvPr/>
        </p:nvSpPr>
        <p:spPr>
          <a:xfrm>
            <a:off x="661475" y="1311870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kern="0" spc="-2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Concrete export: outputs/vss_15min.csv — 15-minute market-level rows used for decision gates.</a:t>
            </a:r>
            <a:endParaRPr lang="en-US" sz="1250" dirty="0"/>
          </a:p>
        </p:txBody>
      </p:sp>
      <p:sp>
        <p:nvSpPr>
          <p:cNvPr id="28" name="Text 2"/>
          <p:cNvSpPr/>
          <p:nvPr/>
        </p:nvSpPr>
        <p:spPr>
          <a:xfrm>
            <a:off x="661475" y="1762820"/>
            <a:ext cx="1086874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48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columns (in CSV)</a:t>
            </a:r>
            <a:endParaRPr lang="en-US" sz="1550" dirty="0"/>
          </a:p>
        </p:txBody>
      </p:sp>
      <p:sp>
        <p:nvSpPr>
          <p:cNvPr id="29" name="Text 3"/>
          <p:cNvSpPr/>
          <p:nvPr/>
        </p:nvSpPr>
        <p:spPr>
          <a:xfrm>
            <a:off x="661475" y="2225973"/>
            <a:ext cx="10868745" cy="1984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market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15-minute window (UTC)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qualifying_post_count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net_sentiment (% positive − % negative)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baseline_14d_same_market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VSS (net − baseline)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status (NO SIGNAL / BREACH / ESCALATE)</a:t>
            </a:r>
            <a:endParaRPr lang="en-US" sz="1250" dirty="0"/>
          </a:p>
        </p:txBody>
      </p:sp>
      <p:sp>
        <p:nvSpPr>
          <p:cNvPr id="30" name="Text 4"/>
          <p:cNvSpPr/>
          <p:nvPr/>
        </p:nvSpPr>
        <p:spPr>
          <a:xfrm>
            <a:off x="661475" y="4367014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kern="0" spc="-26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Decision rules</a:t>
            </a:r>
            <a:endParaRPr lang="en-US" sz="1250" dirty="0"/>
          </a:p>
        </p:txBody>
      </p:sp>
      <p:sp>
        <p:nvSpPr>
          <p:cNvPr id="31" name="Text 5"/>
          <p:cNvSpPr/>
          <p:nvPr/>
        </p:nvSpPr>
        <p:spPr>
          <a:xfrm>
            <a:off x="661475" y="4765576"/>
            <a:ext cx="10868745" cy="822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4000"/>
              </a:lnSpc>
              <a:buSzPct val="100000"/>
              <a:buFont typeface="+mj-lt"/>
              <a:buAutoNum type="arabicPeriod"/>
            </a:pPr>
            <a:r>
              <a:rPr lang="en-US" sz="1250" kern="0" spc="-2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Qualifying posts &lt; 220 → NO SIGNAL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Font typeface="+mj-lt"/>
              <a:buAutoNum type="arabicPeriod" startAt="2"/>
            </a:pPr>
            <a:r>
              <a:rPr lang="en-US" sz="1250" kern="0" spc="-2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VSS ≤ −14 and occurs for 3 consecutive 15‑minute windows → ESCALATE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Font typeface="+mj-lt"/>
              <a:buAutoNum type="arabicPeriod" startAt="3"/>
            </a:pPr>
            <a:r>
              <a:rPr lang="en-US" sz="1250" kern="0" spc="-2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Raw volume alone never triggers an alert</a:t>
            </a:r>
            <a:endParaRPr lang="en-US" sz="1250" dirty="0"/>
          </a:p>
        </p:txBody>
      </p:sp>
      <p:sp>
        <p:nvSpPr>
          <p:cNvPr id="32" name="Shape 6"/>
          <p:cNvSpPr/>
          <p:nvPr/>
        </p:nvSpPr>
        <p:spPr>
          <a:xfrm>
            <a:off x="661475" y="5744964"/>
            <a:ext cx="10868745" cy="587871"/>
          </a:xfrm>
          <a:prstGeom prst="roundRect">
            <a:avLst>
              <a:gd name="adj" fmla="val 11605"/>
            </a:avLst>
          </a:prstGeom>
          <a:solidFill>
            <a:srgbClr val="FCE2CF"/>
          </a:solidFill>
          <a:ln/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92" y="5947966"/>
            <a:ext cx="202996" cy="162421"/>
          </a:xfrm>
          <a:prstGeom prst="rect">
            <a:avLst/>
          </a:prstGeom>
        </p:spPr>
      </p:pic>
      <p:sp>
        <p:nvSpPr>
          <p:cNvPr id="34" name="Text 7"/>
          <p:cNvSpPr/>
          <p:nvPr/>
        </p:nvSpPr>
        <p:spPr>
          <a:xfrm>
            <a:off x="1189305" y="5925046"/>
            <a:ext cx="10788082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kern="0" spc="-26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Qualifying posts = human-origin + confirmed relevant + known-market.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511533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661475" y="7091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112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280 Windows → 20 Escalation Windows</a:t>
            </a:r>
            <a:endParaRPr lang="en-US" sz="3700" dirty="0"/>
          </a:p>
        </p:txBody>
      </p:sp>
      <p:sp>
        <p:nvSpPr>
          <p:cNvPr id="27" name="Text 1"/>
          <p:cNvSpPr/>
          <p:nvPr/>
        </p:nvSpPr>
        <p:spPr>
          <a:xfrm>
            <a:off x="661475" y="167778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Summary of VSS outputs during evaluation:</a:t>
            </a:r>
            <a:endParaRPr lang="en-US" sz="1450" dirty="0"/>
          </a:p>
        </p:txBody>
      </p:sp>
      <p:sp>
        <p:nvSpPr>
          <p:cNvPr id="28" name="Shape 2"/>
          <p:cNvSpPr/>
          <p:nvPr/>
        </p:nvSpPr>
        <p:spPr>
          <a:xfrm>
            <a:off x="661475" y="2192834"/>
            <a:ext cx="3496877" cy="1139924"/>
          </a:xfrm>
          <a:prstGeom prst="roundRect">
            <a:avLst>
              <a:gd name="adj" fmla="val 6964"/>
            </a:avLst>
          </a:prstGeom>
          <a:solidFill>
            <a:srgbClr val="FFF8F0"/>
          </a:solidFill>
          <a:ln w="25399">
            <a:solidFill>
              <a:srgbClr val="E2C8B5"/>
            </a:solidFill>
            <a:prstDash val="solid"/>
          </a:ln>
        </p:spPr>
      </p:sp>
      <p:sp>
        <p:nvSpPr>
          <p:cNvPr id="29" name="Text 3"/>
          <p:cNvSpPr/>
          <p:nvPr/>
        </p:nvSpPr>
        <p:spPr>
          <a:xfrm>
            <a:off x="875881" y="2407245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Analyzed windows</a:t>
            </a:r>
            <a:endParaRPr lang="en-US" sz="1850" dirty="0"/>
          </a:p>
        </p:txBody>
      </p:sp>
      <p:sp>
        <p:nvSpPr>
          <p:cNvPr id="30" name="Text 4"/>
          <p:cNvSpPr/>
          <p:nvPr/>
        </p:nvSpPr>
        <p:spPr>
          <a:xfrm>
            <a:off x="875881" y="2815927"/>
            <a:ext cx="30680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280 15-minute windows</a:t>
            </a:r>
            <a:endParaRPr lang="en-US" sz="1450" dirty="0"/>
          </a:p>
        </p:txBody>
      </p:sp>
      <p:sp>
        <p:nvSpPr>
          <p:cNvPr id="31" name="Shape 5"/>
          <p:cNvSpPr/>
          <p:nvPr/>
        </p:nvSpPr>
        <p:spPr>
          <a:xfrm>
            <a:off x="4347359" y="2192834"/>
            <a:ext cx="3496877" cy="1139924"/>
          </a:xfrm>
          <a:prstGeom prst="roundRect">
            <a:avLst>
              <a:gd name="adj" fmla="val 6964"/>
            </a:avLst>
          </a:prstGeom>
          <a:solidFill>
            <a:srgbClr val="FFF8F0"/>
          </a:solidFill>
          <a:ln w="25399">
            <a:solidFill>
              <a:srgbClr val="E2C8B5"/>
            </a:solidFill>
            <a:prstDash val="solid"/>
          </a:ln>
        </p:spPr>
      </p:sp>
      <p:sp>
        <p:nvSpPr>
          <p:cNvPr id="32" name="Text 6"/>
          <p:cNvSpPr/>
          <p:nvPr/>
        </p:nvSpPr>
        <p:spPr>
          <a:xfrm>
            <a:off x="4561766" y="2407245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VSS breach windows</a:t>
            </a:r>
            <a:endParaRPr lang="en-US" sz="1850" dirty="0"/>
          </a:p>
        </p:txBody>
      </p:sp>
      <p:sp>
        <p:nvSpPr>
          <p:cNvPr id="33" name="Text 7"/>
          <p:cNvSpPr/>
          <p:nvPr/>
        </p:nvSpPr>
        <p:spPr>
          <a:xfrm>
            <a:off x="4561766" y="2815927"/>
            <a:ext cx="30680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35</a:t>
            </a:r>
            <a:endParaRPr lang="en-US" sz="1450" dirty="0"/>
          </a:p>
        </p:txBody>
      </p:sp>
      <p:sp>
        <p:nvSpPr>
          <p:cNvPr id="34" name="Shape 8"/>
          <p:cNvSpPr/>
          <p:nvPr/>
        </p:nvSpPr>
        <p:spPr>
          <a:xfrm>
            <a:off x="8033244" y="2192834"/>
            <a:ext cx="3496877" cy="1139924"/>
          </a:xfrm>
          <a:prstGeom prst="roundRect">
            <a:avLst>
              <a:gd name="adj" fmla="val 6964"/>
            </a:avLst>
          </a:prstGeom>
          <a:solidFill>
            <a:srgbClr val="FFF8F0"/>
          </a:solidFill>
          <a:ln w="25399">
            <a:solidFill>
              <a:srgbClr val="E2C8B5"/>
            </a:solidFill>
            <a:prstDash val="solid"/>
          </a:ln>
        </p:spPr>
      </p:sp>
      <p:sp>
        <p:nvSpPr>
          <p:cNvPr id="35" name="Text 9"/>
          <p:cNvSpPr/>
          <p:nvPr/>
        </p:nvSpPr>
        <p:spPr>
          <a:xfrm>
            <a:off x="8247650" y="2407245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Escalation windows</a:t>
            </a:r>
            <a:endParaRPr lang="en-US" sz="1850" dirty="0"/>
          </a:p>
        </p:txBody>
      </p:sp>
      <p:sp>
        <p:nvSpPr>
          <p:cNvPr id="36" name="Text 10"/>
          <p:cNvSpPr/>
          <p:nvPr/>
        </p:nvSpPr>
        <p:spPr>
          <a:xfrm>
            <a:off x="8247650" y="2815927"/>
            <a:ext cx="30680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</a:t>
            </a:r>
            <a:endParaRPr lang="en-US" sz="1450" dirty="0"/>
          </a:p>
        </p:txBody>
      </p:sp>
      <p:sp>
        <p:nvSpPr>
          <p:cNvPr id="37" name="Text 11"/>
          <p:cNvSpPr/>
          <p:nvPr/>
        </p:nvSpPr>
        <p:spPr>
          <a:xfrm>
            <a:off x="661475" y="3545384"/>
            <a:ext cx="10868745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kern="0" spc="-3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Detected event note:</a:t>
            </a: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Sponsor announcement detected with a 30-minute delay (appeared as persistent negative VSS across required windows).</a:t>
            </a:r>
            <a:endParaRPr lang="en-US" sz="1450" dirty="0"/>
          </a:p>
        </p:txBody>
      </p:sp>
      <p:sp>
        <p:nvSpPr>
          <p:cNvPr id="38" name="Shape 12"/>
          <p:cNvSpPr/>
          <p:nvPr/>
        </p:nvSpPr>
        <p:spPr>
          <a:xfrm>
            <a:off x="661475" y="4877891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FCE2CF"/>
          </a:solidFill>
          <a:ln/>
        </p:spPr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2" y="5145584"/>
            <a:ext cx="236234" cy="189012"/>
          </a:xfrm>
          <a:prstGeom prst="rect">
            <a:avLst/>
          </a:prstGeom>
        </p:spPr>
      </p:pic>
      <p:sp>
        <p:nvSpPr>
          <p:cNvPr id="40" name="Text 13"/>
          <p:cNvSpPr/>
          <p:nvPr/>
        </p:nvSpPr>
        <p:spPr>
          <a:xfrm>
            <a:off x="1275723" y="5114131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Persistence suppresses isolated spikes; sustained breaches reach escalation.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611346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/>
          <p:cNvSpPr/>
          <p:nvPr/>
        </p:nvSpPr>
        <p:spPr>
          <a:xfrm>
            <a:off x="661475" y="539254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kern="0" spc="-105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Did the Signal Detect Real Problems?</a:t>
            </a:r>
            <a:endParaRPr lang="en-US" sz="34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352224"/>
              </p:ext>
            </p:extLst>
          </p:nvPr>
        </p:nvGraphicFramePr>
        <p:xfrm>
          <a:off x="661475" y="1425178"/>
          <a:ext cx="10868746" cy="1965276"/>
        </p:xfrm>
        <a:graphic>
          <a:graphicData uri="http://schemas.openxmlformats.org/drawingml/2006/table">
            <a:tbl>
              <a:tblPr/>
              <a:tblGrid>
                <a:gridCol w="543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4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7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kern="0" spc="-28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Queue crush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kern="0" spc="-28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MISSED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kern="0" spc="-28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Sound failure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kern="0" spc="-28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MISSED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kern="0" spc="-28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Sponsor announcement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kern="0" spc="-28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DETECTED (+30 min)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7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kern="0" spc="-28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Payment outage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kern="0" spc="-28" dirty="0">
                          <a:solidFill>
                            <a:srgbClr val="2B2E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MISSED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C8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1"/>
          <p:cNvSpPr/>
          <p:nvPr/>
        </p:nvSpPr>
        <p:spPr>
          <a:xfrm>
            <a:off x="661475" y="3590032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kern="0" spc="-28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Summary:</a:t>
            </a:r>
            <a:endParaRPr lang="en-US" sz="1350" dirty="0"/>
          </a:p>
        </p:txBody>
      </p:sp>
      <p:sp>
        <p:nvSpPr>
          <p:cNvPr id="12" name="Text 2"/>
          <p:cNvSpPr/>
          <p:nvPr/>
        </p:nvSpPr>
        <p:spPr>
          <a:xfrm>
            <a:off x="661475" y="4051498"/>
            <a:ext cx="10868745" cy="940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/ 4 negative incidents detected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/ 6 planted incidents detected overall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 false escalations on two positive decoys (both ignored)</a:t>
            </a:r>
            <a:endParaRPr lang="en-US" sz="1350" dirty="0"/>
          </a:p>
        </p:txBody>
      </p:sp>
      <p:sp>
        <p:nvSpPr>
          <p:cNvPr id="13" name="Shape 3"/>
          <p:cNvSpPr/>
          <p:nvPr/>
        </p:nvSpPr>
        <p:spPr>
          <a:xfrm>
            <a:off x="661475" y="5178524"/>
            <a:ext cx="10868745" cy="678656"/>
          </a:xfrm>
          <a:prstGeom prst="roundRect">
            <a:avLst>
              <a:gd name="adj" fmla="val 10967"/>
            </a:avLst>
          </a:prstGeom>
          <a:solidFill>
            <a:srgbClr val="FCE2CF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75" y="5417939"/>
            <a:ext cx="221451" cy="177205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1237326" y="5388868"/>
            <a:ext cx="1072527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kern="0" spc="-28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is conservative/selective but has limited incident coverage. It is not a standalone incident detector.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642167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661475" y="13913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112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What the Results Tell Us</a:t>
            </a:r>
            <a:endParaRPr lang="en-US" sz="3700" dirty="0"/>
          </a:p>
        </p:txBody>
      </p:sp>
      <p:sp>
        <p:nvSpPr>
          <p:cNvPr id="9" name="Text 1"/>
          <p:cNvSpPr/>
          <p:nvPr/>
        </p:nvSpPr>
        <p:spPr>
          <a:xfrm>
            <a:off x="661475" y="245447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What worked</a:t>
            </a:r>
            <a:endParaRPr lang="en-US" sz="1850" dirty="0"/>
          </a:p>
        </p:txBody>
      </p:sp>
      <p:sp>
        <p:nvSpPr>
          <p:cNvPr id="10" name="Text 2"/>
          <p:cNvSpPr/>
          <p:nvPr/>
        </p:nvSpPr>
        <p:spPr>
          <a:xfrm>
            <a:off x="661475" y="2938760"/>
            <a:ext cx="5203794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Automated/irrelevant traffic can be filtered before VSS, reducing noise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Isolated sentiment spikes are suppressed by persistence requirement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Sustained negative shifts (e.g., sponsor announcement) can be surfaced</a:t>
            </a:r>
            <a:endParaRPr lang="en-US" sz="1450" dirty="0"/>
          </a:p>
        </p:txBody>
      </p:sp>
      <p:sp>
        <p:nvSpPr>
          <p:cNvPr id="11" name="Text 3"/>
          <p:cNvSpPr/>
          <p:nvPr/>
        </p:nvSpPr>
        <p:spPr>
          <a:xfrm>
            <a:off x="6332776" y="245447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What didn't work</a:t>
            </a:r>
            <a:endParaRPr lang="en-US" sz="1850" dirty="0"/>
          </a:p>
        </p:txBody>
      </p:sp>
      <p:sp>
        <p:nvSpPr>
          <p:cNvPr id="12" name="Text 4"/>
          <p:cNvSpPr/>
          <p:nvPr/>
        </p:nvSpPr>
        <p:spPr>
          <a:xfrm>
            <a:off x="6332776" y="2938760"/>
            <a:ext cx="5203794" cy="1710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Several real incidents were missed — limited coverage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Visibility depends on affected people posting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Neutral or subtle language can hide operational problems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Missing geography (30.12%) reduces market-level sensitivity</a:t>
            </a:r>
            <a:endParaRPr lang="en-US" sz="1450" dirty="0"/>
          </a:p>
        </p:txBody>
      </p:sp>
      <p:sp>
        <p:nvSpPr>
          <p:cNvPr id="13" name="Text 5"/>
          <p:cNvSpPr/>
          <p:nvPr/>
        </p:nvSpPr>
        <p:spPr>
          <a:xfrm>
            <a:off x="661475" y="516413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Conclusion:</a:t>
            </a: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Useful as an early-warning layer, not sufficient as a standalone incident detector.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042063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661475" y="557709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kern="0" spc="-94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Where This Fits in the Command Centre</a:t>
            </a:r>
            <a:endParaRPr lang="en-US" sz="3100" dirty="0"/>
          </a:p>
        </p:txBody>
      </p:sp>
      <p:sp>
        <p:nvSpPr>
          <p:cNvPr id="57" name="Text 1"/>
          <p:cNvSpPr/>
          <p:nvPr/>
        </p:nvSpPr>
        <p:spPr>
          <a:xfrm>
            <a:off x="661475" y="1257895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Illustrative production interface — not built in this assessment. Labels are placeholders only.</a:t>
            </a:r>
            <a:endParaRPr lang="en-US" sz="1250" dirty="0"/>
          </a:p>
        </p:txBody>
      </p:sp>
      <p:sp>
        <p:nvSpPr>
          <p:cNvPr id="58" name="Shape 2"/>
          <p:cNvSpPr/>
          <p:nvPr/>
        </p:nvSpPr>
        <p:spPr>
          <a:xfrm>
            <a:off x="661475" y="1795661"/>
            <a:ext cx="2214805" cy="1563390"/>
          </a:xfrm>
          <a:prstGeom prst="roundRect">
            <a:avLst>
              <a:gd name="adj" fmla="val 4285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59" name="Shape 3"/>
          <p:cNvSpPr/>
          <p:nvPr/>
        </p:nvSpPr>
        <p:spPr>
          <a:xfrm>
            <a:off x="827265" y="1961455"/>
            <a:ext cx="478421" cy="478433"/>
          </a:xfrm>
          <a:prstGeom prst="ellipse">
            <a:avLst/>
          </a:prstGeom>
          <a:solidFill>
            <a:srgbClr val="D2600F"/>
          </a:solidFill>
          <a:ln/>
        </p:spPr>
      </p:sp>
      <p:sp>
        <p:nvSpPr>
          <p:cNvPr id="60" name="Text 4"/>
          <p:cNvSpPr/>
          <p:nvPr/>
        </p:nvSpPr>
        <p:spPr>
          <a:xfrm>
            <a:off x="958826" y="2066131"/>
            <a:ext cx="215299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kern="0" spc="-38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1650" dirty="0"/>
          </a:p>
        </p:txBody>
      </p:sp>
      <p:sp>
        <p:nvSpPr>
          <p:cNvPr id="61" name="Text 5"/>
          <p:cNvSpPr/>
          <p:nvPr/>
        </p:nvSpPr>
        <p:spPr>
          <a:xfrm>
            <a:off x="827265" y="2574429"/>
            <a:ext cx="188322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4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Market</a:t>
            </a:r>
            <a:endParaRPr lang="en-US" sz="1550" dirty="0"/>
          </a:p>
        </p:txBody>
      </p:sp>
      <p:sp>
        <p:nvSpPr>
          <p:cNvPr id="62" name="Text 6"/>
          <p:cNvSpPr/>
          <p:nvPr/>
        </p:nvSpPr>
        <p:spPr>
          <a:xfrm>
            <a:off x="827265" y="2958108"/>
            <a:ext cx="1883224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Market A</a:t>
            </a:r>
            <a:endParaRPr lang="en-US" sz="1250" dirty="0"/>
          </a:p>
        </p:txBody>
      </p:sp>
      <p:sp>
        <p:nvSpPr>
          <p:cNvPr id="63" name="Shape 7"/>
          <p:cNvSpPr/>
          <p:nvPr/>
        </p:nvSpPr>
        <p:spPr>
          <a:xfrm>
            <a:off x="3010817" y="1795661"/>
            <a:ext cx="2214904" cy="1563390"/>
          </a:xfrm>
          <a:prstGeom prst="roundRect">
            <a:avLst>
              <a:gd name="adj" fmla="val 4285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64" name="Shape 8"/>
          <p:cNvSpPr/>
          <p:nvPr/>
        </p:nvSpPr>
        <p:spPr>
          <a:xfrm>
            <a:off x="3176607" y="1961455"/>
            <a:ext cx="478421" cy="478433"/>
          </a:xfrm>
          <a:prstGeom prst="ellipse">
            <a:avLst/>
          </a:prstGeom>
          <a:solidFill>
            <a:srgbClr val="D2600F"/>
          </a:solidFill>
          <a:ln/>
        </p:spPr>
      </p:sp>
      <p:sp>
        <p:nvSpPr>
          <p:cNvPr id="65" name="Text 9"/>
          <p:cNvSpPr/>
          <p:nvPr/>
        </p:nvSpPr>
        <p:spPr>
          <a:xfrm>
            <a:off x="3308168" y="2066131"/>
            <a:ext cx="215299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kern="0" spc="-38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1650" dirty="0"/>
          </a:p>
        </p:txBody>
      </p:sp>
      <p:sp>
        <p:nvSpPr>
          <p:cNvPr id="66" name="Text 10"/>
          <p:cNvSpPr/>
          <p:nvPr/>
        </p:nvSpPr>
        <p:spPr>
          <a:xfrm>
            <a:off x="3176607" y="2574429"/>
            <a:ext cx="188332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4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Current VSS</a:t>
            </a:r>
            <a:endParaRPr lang="en-US" sz="1550" dirty="0"/>
          </a:p>
        </p:txBody>
      </p:sp>
      <p:sp>
        <p:nvSpPr>
          <p:cNvPr id="67" name="Text 11"/>
          <p:cNvSpPr/>
          <p:nvPr/>
        </p:nvSpPr>
        <p:spPr>
          <a:xfrm>
            <a:off x="3176607" y="2958108"/>
            <a:ext cx="188332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&lt; −14 (ESCALATE)</a:t>
            </a:r>
            <a:endParaRPr lang="en-US" sz="1250" dirty="0"/>
          </a:p>
        </p:txBody>
      </p:sp>
      <p:sp>
        <p:nvSpPr>
          <p:cNvPr id="68" name="Shape 12"/>
          <p:cNvSpPr/>
          <p:nvPr/>
        </p:nvSpPr>
        <p:spPr>
          <a:xfrm>
            <a:off x="661475" y="3493591"/>
            <a:ext cx="2214805" cy="2268835"/>
          </a:xfrm>
          <a:prstGeom prst="roundRect">
            <a:avLst>
              <a:gd name="adj" fmla="val 3024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69" name="Shape 13"/>
          <p:cNvSpPr/>
          <p:nvPr/>
        </p:nvSpPr>
        <p:spPr>
          <a:xfrm>
            <a:off x="827265" y="3659386"/>
            <a:ext cx="478421" cy="478433"/>
          </a:xfrm>
          <a:prstGeom prst="ellipse">
            <a:avLst/>
          </a:prstGeom>
          <a:solidFill>
            <a:srgbClr val="D2600F"/>
          </a:solidFill>
          <a:ln/>
        </p:spPr>
      </p:sp>
      <p:sp>
        <p:nvSpPr>
          <p:cNvPr id="70" name="Text 14"/>
          <p:cNvSpPr/>
          <p:nvPr/>
        </p:nvSpPr>
        <p:spPr>
          <a:xfrm>
            <a:off x="958826" y="3764062"/>
            <a:ext cx="215299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kern="0" spc="-38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1650" dirty="0"/>
          </a:p>
        </p:txBody>
      </p:sp>
      <p:sp>
        <p:nvSpPr>
          <p:cNvPr id="71" name="Text 15"/>
          <p:cNvSpPr/>
          <p:nvPr/>
        </p:nvSpPr>
        <p:spPr>
          <a:xfrm>
            <a:off x="827265" y="4272359"/>
            <a:ext cx="188322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4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Evidence</a:t>
            </a:r>
            <a:endParaRPr lang="en-US" sz="1550" dirty="0"/>
          </a:p>
        </p:txBody>
      </p:sp>
      <p:sp>
        <p:nvSpPr>
          <p:cNvPr id="72" name="Text 16"/>
          <p:cNvSpPr/>
          <p:nvPr/>
        </p:nvSpPr>
        <p:spPr>
          <a:xfrm>
            <a:off x="827265" y="4656038"/>
            <a:ext cx="1883224" cy="940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consecutive breach windows ·     &gt;220 qualifying posts · human-origin</a:t>
            </a:r>
            <a:endParaRPr lang="en-US" sz="1250" dirty="0"/>
          </a:p>
        </p:txBody>
      </p:sp>
      <p:sp>
        <p:nvSpPr>
          <p:cNvPr id="73" name="Shape 17"/>
          <p:cNvSpPr/>
          <p:nvPr/>
        </p:nvSpPr>
        <p:spPr>
          <a:xfrm>
            <a:off x="3010817" y="3493591"/>
            <a:ext cx="2214904" cy="2268835"/>
          </a:xfrm>
          <a:prstGeom prst="roundRect">
            <a:avLst>
              <a:gd name="adj" fmla="val 3024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</p:sp>
      <p:sp>
        <p:nvSpPr>
          <p:cNvPr id="74" name="Shape 18"/>
          <p:cNvSpPr/>
          <p:nvPr/>
        </p:nvSpPr>
        <p:spPr>
          <a:xfrm>
            <a:off x="3176607" y="3659386"/>
            <a:ext cx="478421" cy="478433"/>
          </a:xfrm>
          <a:prstGeom prst="ellipse">
            <a:avLst/>
          </a:prstGeom>
          <a:solidFill>
            <a:srgbClr val="D2600F"/>
          </a:solidFill>
          <a:ln/>
        </p:spPr>
      </p:sp>
      <p:sp>
        <p:nvSpPr>
          <p:cNvPr id="75" name="Text 19"/>
          <p:cNvSpPr/>
          <p:nvPr/>
        </p:nvSpPr>
        <p:spPr>
          <a:xfrm>
            <a:off x="3308168" y="3764062"/>
            <a:ext cx="215299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kern="0" spc="-38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4</a:t>
            </a:r>
            <a:endParaRPr lang="en-US" sz="1650" dirty="0"/>
          </a:p>
        </p:txBody>
      </p:sp>
      <p:sp>
        <p:nvSpPr>
          <p:cNvPr id="76" name="Text 20"/>
          <p:cNvSpPr/>
          <p:nvPr/>
        </p:nvSpPr>
        <p:spPr>
          <a:xfrm>
            <a:off x="3176607" y="4272359"/>
            <a:ext cx="188332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4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Action</a:t>
            </a:r>
            <a:endParaRPr lang="en-US" sz="1550" dirty="0"/>
          </a:p>
        </p:txBody>
      </p:sp>
      <p:sp>
        <p:nvSpPr>
          <p:cNvPr id="77" name="Text 21"/>
          <p:cNvSpPr/>
          <p:nvPr/>
        </p:nvSpPr>
        <p:spPr>
          <a:xfrm>
            <a:off x="3176607" y="4656038"/>
            <a:ext cx="188332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Human review required</a:t>
            </a:r>
            <a:endParaRPr lang="en-US" sz="1250" dirty="0"/>
          </a:p>
        </p:txBody>
      </p:sp>
      <p:sp>
        <p:nvSpPr>
          <p:cNvPr id="78" name="Text 22"/>
          <p:cNvSpPr/>
          <p:nvPr/>
        </p:nvSpPr>
        <p:spPr>
          <a:xfrm>
            <a:off x="5621197" y="1778893"/>
            <a:ext cx="591527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47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Operational rules (short)</a:t>
            </a:r>
            <a:endParaRPr lang="en-US" sz="1550" dirty="0"/>
          </a:p>
        </p:txBody>
      </p:sp>
      <p:sp>
        <p:nvSpPr>
          <p:cNvPr id="79" name="Text 23"/>
          <p:cNvSpPr/>
          <p:nvPr/>
        </p:nvSpPr>
        <p:spPr>
          <a:xfrm>
            <a:off x="5621197" y="2162572"/>
            <a:ext cx="5915274" cy="126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WATCH: sustained VSS ≤ −14 with ≥220 qualifying posts for 3 consecutive 15 minute windows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IGNORE: raw volume spikes without sentiment, automated amplification, isolated breaches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REQUIRE: human review before escalation</a:t>
            </a:r>
            <a:endParaRPr lang="en-US" sz="1250" dirty="0"/>
          </a:p>
        </p:txBody>
      </p:sp>
      <p:sp>
        <p:nvSpPr>
          <p:cNvPr id="80" name="Shape 24"/>
          <p:cNvSpPr/>
          <p:nvPr/>
        </p:nvSpPr>
        <p:spPr>
          <a:xfrm>
            <a:off x="5621197" y="3583682"/>
            <a:ext cx="5915274" cy="1027113"/>
          </a:xfrm>
          <a:prstGeom prst="roundRect">
            <a:avLst>
              <a:gd name="adj" fmla="val 6522"/>
            </a:avLst>
          </a:prstGeom>
          <a:solidFill>
            <a:srgbClr val="FCE2CF"/>
          </a:solidFill>
          <a:ln/>
        </p:spPr>
      </p:sp>
      <p:pic>
        <p:nvPicPr>
          <p:cNvPr id="81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0637" y="3796209"/>
            <a:ext cx="199325" cy="159445"/>
          </a:xfrm>
          <a:prstGeom prst="rect">
            <a:avLst/>
          </a:prstGeom>
        </p:spPr>
      </p:pic>
      <p:sp>
        <p:nvSpPr>
          <p:cNvPr id="82" name="Text 25"/>
          <p:cNvSpPr/>
          <p:nvPr/>
        </p:nvSpPr>
        <p:spPr>
          <a:xfrm>
            <a:off x="6139403" y="3744516"/>
            <a:ext cx="5237627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CANNOT reliably see incidents where affected people are not posting, neutral-language operational reports, or posts lacking market data.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11374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787</Words>
  <Application>Microsoft Office PowerPoint</Application>
  <PresentationFormat>Widescreen</PresentationFormat>
  <Paragraphs>155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Bitter Medium</vt:lpstr>
      <vt:lpstr>Open Sans</vt:lpstr>
      <vt:lpstr>Calibri</vt:lpstr>
      <vt:lpstr>Arial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Sai Pranathi</dc:creator>
  <cp:lastModifiedBy>DELL</cp:lastModifiedBy>
  <cp:revision>3</cp:revision>
  <dcterms:created xsi:type="dcterms:W3CDTF">2026-09-18T06:56:33Z</dcterms:created>
  <dcterms:modified xsi:type="dcterms:W3CDTF">2026-09-18T07:15:04Z</dcterms:modified>
</cp:coreProperties>
</file>